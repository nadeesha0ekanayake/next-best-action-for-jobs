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75" r:id="rId9"/>
    <p:sldId id="276" r:id="rId10"/>
    <p:sldId id="264" r:id="rId11"/>
    <p:sldId id="265" r:id="rId12"/>
    <p:sldId id="267" r:id="rId13"/>
    <p:sldId id="268" r:id="rId14"/>
    <p:sldId id="269" r:id="rId15"/>
    <p:sldId id="271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01"/>
  </p:normalViewPr>
  <p:slideViewPr>
    <p:cSldViewPr snapToGrid="0" snapToObjects="1">
      <p:cViewPr varScale="1">
        <p:scale>
          <a:sx n="122" d="100"/>
          <a:sy n="122" d="100"/>
        </p:scale>
        <p:origin x="74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 uplift (pp)</c:v>
                </c:pt>
              </c:strCache>
            </c:strRef>
          </c:tx>
          <c:spPr>
            <a:ln w="41275">
              <a:solidFill>
                <a:srgbClr val="F2A900"/>
              </a:solidFill>
            </a:ln>
          </c:spPr>
          <c:marker>
            <c:symbol val="circle"/>
            <c:size val="7"/>
            <c:spPr>
              <a:solidFill>
                <a:srgbClr val="0F2A43"/>
              </a:solidFill>
              <a:ln>
                <a:solidFill>
                  <a:srgbClr val="0F2A43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5.5</c:v>
                </c:pt>
                <c:pt idx="3">
                  <c:v>6.7</c:v>
                </c:pt>
                <c:pt idx="4">
                  <c:v>7.5</c:v>
                </c:pt>
                <c:pt idx="5">
                  <c:v>8</c:v>
                </c:pt>
                <c:pt idx="6">
                  <c:v>8</c:v>
                </c:pt>
                <c:pt idx="7">
                  <c:v>8.1</c:v>
                </c:pt>
                <c:pt idx="8">
                  <c:v>8</c:v>
                </c:pt>
                <c:pt idx="9">
                  <c:v>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7F4-024A-BD60-BEDAB24E1D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AU" sz="1100" b="1" dirty="0">
                    <a:solidFill>
                      <a:srgbClr val="0F2A43"/>
                    </a:solidFill>
                  </a:rPr>
                  <a:t>Actions a tradie takes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"/>
          <c:min val="0"/>
        </c:scaling>
        <c:delete val="0"/>
        <c:axPos val="l"/>
        <c:majorGridlines>
          <c:spPr>
            <a:ln w="6350">
              <a:solidFill>
                <a:srgbClr val="D9DEE4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AU" sz="1100" b="1">
                    <a:solidFill>
                      <a:srgbClr val="0F2A43"/>
                    </a:solidFill>
                  </a:rPr>
                  <a:t>Retention uplift (percentage points)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4A324-D63E-C041-809E-3AC2C8EDF942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34102-35DA-0B41-9563-55B7EF55E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72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34102-35DA-0B41-9563-55B7EF55E07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42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34102-35DA-0B41-9563-55B7EF55E07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993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28016" cy="219456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5544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BB3A3"/>
                </a:solidFill>
                <a:latin typeface="Calibri"/>
              </a:rPr>
              <a:t>MACHINE LEARNING · PRODUCT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965960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Next Best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63240"/>
            <a:ext cx="9875520" cy="687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dirty="0">
                <a:solidFill>
                  <a:srgbClr val="C9D6E3"/>
                </a:solidFill>
                <a:latin typeface="Calibri Light"/>
              </a:rPr>
              <a:t>An ML system that helps </a:t>
            </a:r>
            <a:r>
              <a:rPr lang="en-AU" sz="2000" b="0" dirty="0">
                <a:solidFill>
                  <a:srgbClr val="C9D6E3"/>
                </a:solidFill>
                <a:latin typeface="Calibri Light"/>
              </a:rPr>
              <a:t>tradies</a:t>
            </a:r>
            <a:r>
              <a:rPr sz="2000" b="0" dirty="0">
                <a:solidFill>
                  <a:srgbClr val="C9D6E3"/>
                </a:solidFill>
                <a:latin typeface="Calibri Light"/>
              </a:rPr>
              <a:t> act on the right job, at the right time — from rule-based prototype to a live, experiment-validated product.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257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FB3C9"/>
                </a:solidFill>
                <a:latin typeface="Calibri"/>
              </a:rPr>
              <a:t>A piece of work I'm proud of  ·  end-to-end: problem → data → model → production → measured outcome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420624"/>
            <a:ext cx="82296" cy="5029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A900"/>
                </a:solidFill>
                <a:latin typeface="Calibr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I'll walk 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1065276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72768"/>
            <a:ext cx="109728" cy="859536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7280" y="1773936"/>
            <a:ext cx="457200" cy="45720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7739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719072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The business &amp; the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75688"/>
            <a:ext cx="9418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Context  ·  the product journey  ·  the real problem  ·  why we started  ·  the bet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532888"/>
            <a:ext cx="1065276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2532888"/>
            <a:ext cx="109728" cy="859536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2734056"/>
            <a:ext cx="457200" cy="457200"/>
          </a:xfrm>
          <a:prstGeom prst="ellipse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27340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679192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Approach &amp;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035808"/>
            <a:ext cx="9418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The phased approach  ·  end-to-end system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493008"/>
            <a:ext cx="1065276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3493008"/>
            <a:ext cx="109728" cy="859536"/>
          </a:xfrm>
          <a:prstGeom prst="rect">
            <a:avLst/>
          </a:prstGeom>
          <a:solidFill>
            <a:srgbClr val="1C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3694176"/>
            <a:ext cx="457200" cy="457200"/>
          </a:xfrm>
          <a:prstGeom prst="ellipse">
            <a:avLst/>
          </a:prstGeom>
          <a:solidFill>
            <a:srgbClr val="1C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36941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639312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The machine-learning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995928"/>
            <a:ext cx="9418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Features &amp; pipeline  ·  why logistic regression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453128"/>
            <a:ext cx="1065276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4453128"/>
            <a:ext cx="109728" cy="859536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97280" y="4654296"/>
            <a:ext cx="457200" cy="4572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46542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599432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From model to product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956048"/>
            <a:ext cx="9418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Surfacing in-app  ·  the team behind 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413248"/>
            <a:ext cx="1065276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77240" y="5413248"/>
            <a:ext cx="109728" cy="859536"/>
          </a:xfrm>
          <a:prstGeom prst="rect">
            <a:avLst/>
          </a:prstGeom>
          <a:solidFill>
            <a:srgbClr val="1C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97280" y="5614416"/>
            <a:ext cx="457200" cy="457200"/>
          </a:xfrm>
          <a:prstGeom prst="ellipse">
            <a:avLst/>
          </a:prstGeom>
          <a:solidFill>
            <a:srgbClr val="1C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97280" y="56144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559552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Results &amp; reflection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916168"/>
            <a:ext cx="9418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Validation &amp; results  ·  lessons learned  ·  principles for the role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4465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Next Best Action  ·  portfolio piece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420624"/>
            <a:ext cx="82296" cy="5029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A900"/>
                </a:solidFill>
                <a:latin typeface="Calibri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business: a two-sided home-services marketplace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572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E8AA8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The company runs a marketplace that connects homeowners who need work done with tradespeople (“tradies”) who do it. Two customers, one platform.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31089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286000"/>
            <a:ext cx="3108960" cy="9144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2743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Homeowners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Post a job, receive quotes, hire and pay a tradie.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69080" y="2880360"/>
            <a:ext cx="822960" cy="365760"/>
          </a:xfrm>
          <a:prstGeom prst="rightArrow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69080" y="265176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74920" y="2286000"/>
            <a:ext cx="31089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74920" y="2286000"/>
            <a:ext cx="3108960" cy="914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7800" y="2514600"/>
            <a:ext cx="2743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The platform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Matches demand to supply; hosts the tools tradies run their work on.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8366760" y="2880360"/>
            <a:ext cx="822960" cy="365760"/>
          </a:xfrm>
          <a:prstGeom prst="leftArrow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72600" y="2286000"/>
            <a:ext cx="20574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2600" y="2286000"/>
            <a:ext cx="2057400" cy="914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55480" y="2514600"/>
            <a:ext cx="1737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Tradies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Quote, schedule, invoice and get paid.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64571"/>
            <a:ext cx="106527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9467" y="4593275"/>
            <a:ext cx="10652760" cy="91440"/>
          </a:xfrm>
          <a:prstGeom prst="rect">
            <a:avLst/>
          </a:prstGeom>
          <a:solidFill>
            <a:srgbClr val="1C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787845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0F2A43"/>
                </a:solidFill>
                <a:latin typeface="Calibri"/>
              </a:rPr>
              <a:t>Where this project lives — the Job Management 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10976"/>
            <a:ext cx="10149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dirty="0">
                <a:solidFill>
                  <a:srgbClr val="1C4E80"/>
                </a:solidFill>
                <a:latin typeface="Calibri"/>
              </a:rPr>
              <a:t>▪  </a:t>
            </a:r>
            <a:r>
              <a:rPr sz="1350" b="1" dirty="0">
                <a:solidFill>
                  <a:srgbClr val="1A1A2E"/>
                </a:solidFill>
                <a:latin typeface="Calibri"/>
              </a:rPr>
              <a:t>A </a:t>
            </a:r>
            <a:r>
              <a:rPr sz="1350" b="1" dirty="0" err="1">
                <a:solidFill>
                  <a:srgbClr val="1A1A2E"/>
                </a:solidFill>
                <a:latin typeface="Calibri"/>
              </a:rPr>
              <a:t>tradie's</a:t>
            </a:r>
            <a:r>
              <a:rPr sz="1350" b="1" dirty="0">
                <a:solidFill>
                  <a:srgbClr val="1A1A2E"/>
                </a:solidFill>
                <a:latin typeface="Calibri"/>
              </a:rPr>
              <a:t> workbench. 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Every accepted lead becomes a “job” they progress through quotes, appointments, invoices and payments.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dirty="0">
                <a:solidFill>
                  <a:srgbClr val="1C4E80"/>
                </a:solidFill>
                <a:latin typeface="Calibri"/>
              </a:rPr>
              <a:t>▪  </a:t>
            </a:r>
            <a:r>
              <a:rPr sz="1350" b="1" dirty="0">
                <a:solidFill>
                  <a:srgbClr val="1A1A2E"/>
                </a:solidFill>
                <a:latin typeface="Calibri"/>
              </a:rPr>
              <a:t>The problem space. 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Active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tradies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accumulate dozens — sometimes hundreds — of jobs in mixed states, with no signal for what to do next.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4465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Next Best Action  ·  portfolio piece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6F6B06A-6616-7D98-6FCA-645F1FEF8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147" y="3142663"/>
            <a:ext cx="1296053" cy="13017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E91678B-56C9-DF20-FA5D-C5308822A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4473" y="3291489"/>
            <a:ext cx="2684127" cy="11384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420624"/>
            <a:ext cx="82296" cy="5029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A900"/>
                </a:solidFill>
                <a:latin typeface="Calibri"/>
              </a:rPr>
              <a:t>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From winning the work to getting paid — one connected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572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6E8AA8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Calibri"/>
              </a:rPr>
              <a:t>hipages gives tradies two connected products that span their whole working life. </a:t>
            </a:r>
            <a:r>
              <a:rPr sz="1500" b="0">
                <a:solidFill>
                  <a:srgbClr val="1A1A2E"/>
                </a:solidFill>
                <a:latin typeface="Calibri"/>
              </a:rPr>
              <a:t>Every step along the way is a product feature.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22402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240280"/>
            <a:ext cx="2240280" cy="9144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404872"/>
            <a:ext cx="1874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Calibri"/>
              </a:rPr>
              <a:t>①  Lead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81528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BB3A3"/>
                </a:solidFill>
                <a:latin typeface="Calibri"/>
              </a:rPr>
              <a:t>WIN THE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474720"/>
            <a:ext cx="187452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B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4984" y="3474720"/>
            <a:ext cx="176479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2A43"/>
                </a:solidFill>
                <a:latin typeface="Calibri"/>
              </a:rPr>
              <a:t>Find &amp; claim leads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160520"/>
            <a:ext cx="187452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B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4984" y="4160520"/>
            <a:ext cx="176479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2A43"/>
                </a:solidFill>
                <a:latin typeface="Calibri"/>
              </a:rPr>
              <a:t>Connect with homeowner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54680" y="3429000"/>
            <a:ext cx="411480" cy="411480"/>
          </a:xfrm>
          <a:prstGeom prst="rightArrow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0" y="2240280"/>
            <a:ext cx="7772400" cy="2788920"/>
          </a:xfrm>
          <a:prstGeom prst="rect">
            <a:avLst/>
          </a:prstGeom>
          <a:solidFill>
            <a:srgbClr val="F4F6F8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0" y="2240280"/>
            <a:ext cx="7772400" cy="914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0" y="2386584"/>
            <a:ext cx="7406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Calibri"/>
              </a:rPr>
              <a:t>②  Job Management</a:t>
            </a:r>
            <a:r>
              <a:rPr sz="1250" b="0">
                <a:solidFill>
                  <a:srgbClr val="6B7280"/>
                </a:solidFill>
                <a:latin typeface="Calibri"/>
              </a:rPr>
              <a:t>   —   deliver the work &amp; get paid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7889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2A900"/>
                </a:solidFill>
                <a:latin typeface="Calibri"/>
              </a:rPr>
              <a:t>QUOTE &amp; WIN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2990088"/>
            <a:ext cx="274320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95344" y="2990088"/>
            <a:ext cx="263347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2A43"/>
                </a:solidFill>
                <a:latin typeface="Calibri"/>
              </a:rPr>
              <a:t>Estimate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3703320"/>
            <a:ext cx="274320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95344" y="3703320"/>
            <a:ext cx="263347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2A43"/>
                </a:solidFill>
                <a:latin typeface="Calibri"/>
              </a:rPr>
              <a:t>Quote-inspection appointment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0" y="4416552"/>
            <a:ext cx="274320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95344" y="4416552"/>
            <a:ext cx="263347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2A43"/>
                </a:solidFill>
                <a:latin typeface="Calibri"/>
              </a:rPr>
              <a:t>Quote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6576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2A900"/>
                </a:solidFill>
                <a:latin typeface="Calibri"/>
              </a:rP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7889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C4E80"/>
                </a:solidFill>
                <a:latin typeface="Calibri"/>
              </a:rPr>
              <a:t>DO THE JOB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3703320"/>
            <a:ext cx="146304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C4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21424" y="3703320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2A43"/>
                </a:solidFill>
                <a:latin typeface="Calibri"/>
              </a:rPr>
              <a:t>Job on-site appointment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36576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C4E80"/>
                </a:solidFill>
                <a:latin typeface="Calibri"/>
              </a:rP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788920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BB3A3"/>
                </a:solidFill>
                <a:latin typeface="Calibri"/>
              </a:rPr>
              <a:t>GET PAID &amp; RUN 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2990088"/>
            <a:ext cx="278892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B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67344" y="2990088"/>
            <a:ext cx="267919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2A43"/>
                </a:solidFill>
                <a:latin typeface="Calibri"/>
              </a:rPr>
              <a:t>Invoice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3703320"/>
            <a:ext cx="278892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B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67344" y="3703320"/>
            <a:ext cx="267919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2A43"/>
                </a:solidFill>
                <a:latin typeface="Calibri"/>
              </a:rPr>
              <a:t>Payments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0" y="4416552"/>
            <a:ext cx="278892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B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67344" y="4416552"/>
            <a:ext cx="267919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2A43"/>
                </a:solidFill>
                <a:latin typeface="Calibri"/>
              </a:rPr>
              <a:t>Accounting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12080"/>
            <a:ext cx="10652760" cy="960120"/>
          </a:xfrm>
          <a:prstGeom prst="rect">
            <a:avLst/>
          </a:prstGeom>
          <a:solidFill>
            <a:srgbClr val="0F2A43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51560" y="5394960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2A900"/>
                </a:solidFill>
                <a:latin typeface="Calibri"/>
              </a:rPr>
              <a:t>Each box is a feature a tradie can adopt</a:t>
            </a:r>
            <a:r>
              <a:rPr sz="1450" b="0">
                <a:solidFill>
                  <a:srgbClr val="FFFFFF"/>
                </a:solidFill>
                <a:latin typeface="Calibri"/>
              </a:rPr>
              <a:t> — estimates, quotes, appointments, invoicing, payments, even their accounting. Together, these run the tradie's entire business on hipages.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64465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Next Best Action  ·  portfolio piece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420624"/>
            <a:ext cx="82296" cy="5029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A900"/>
                </a:solidFill>
                <a:latin typeface="Calibri"/>
              </a:rPr>
              <a:t>THE REAL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Not a sales problem — a feature-adoption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572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E8AA8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0F2A43"/>
                </a:solidFill>
                <a:latin typeface="Calibri"/>
              </a:rPr>
              <a:t>The suite is rich — but most tradies only ever adopt a handful of features. </a:t>
            </a:r>
            <a:r>
              <a:rPr sz="1550" b="0">
                <a:solidFill>
                  <a:srgbClr val="1A1A2E"/>
                </a:solidFill>
                <a:latin typeface="Calibri"/>
              </a:rPr>
              <a:t>More value, and more loyalty, come from using more of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5029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148840"/>
            <a:ext cx="5029200" cy="91440"/>
          </a:xfrm>
          <a:prstGeom prst="rect">
            <a:avLst/>
          </a:prstGeom>
          <a:solidFill>
            <a:srgbClr val="1C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0F2A43"/>
                </a:solidFill>
                <a:latin typeface="Calibri"/>
              </a:rPr>
              <a:t>Why adoption is the real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461772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C4E80"/>
                </a:solidFill>
                <a:latin typeface="Calibri"/>
              </a:rPr>
              <a:t>▪  </a:t>
            </a:r>
            <a:r>
              <a:rPr sz="1350" b="0">
                <a:solidFill>
                  <a:srgbClr val="1A1A2E"/>
                </a:solidFill>
                <a:latin typeface="Calibri"/>
              </a:rPr>
              <a:t>Tradies live in their jobs, not in a feature catalogue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C4E80"/>
                </a:solidFill>
                <a:latin typeface="Calibri"/>
              </a:rPr>
              <a:t>▪  </a:t>
            </a:r>
            <a:r>
              <a:rPr sz="1350" b="0">
                <a:solidFill>
                  <a:srgbClr val="1A1A2E"/>
                </a:solidFill>
                <a:latin typeface="Calibri"/>
              </a:rPr>
              <a:t>They rarely discover which feature helps at which moment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C4E80"/>
                </a:solidFill>
                <a:latin typeface="Calibri"/>
              </a:rPr>
              <a:t>▪  </a:t>
            </a:r>
            <a:r>
              <a:rPr sz="1350" b="0">
                <a:solidFill>
                  <a:srgbClr val="1A1A2E"/>
                </a:solidFill>
                <a:latin typeface="Calibri"/>
              </a:rPr>
              <a:t>Under-adoption → less value realised → weaker retention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C4E80"/>
                </a:solidFill>
                <a:latin typeface="Calibri"/>
              </a:rPr>
              <a:t>▪  </a:t>
            </a:r>
            <a:r>
              <a:rPr sz="1350" b="0">
                <a:solidFill>
                  <a:srgbClr val="1A1A2E"/>
                </a:solidFill>
                <a:latin typeface="Calibri"/>
              </a:rPr>
              <a:t>Pushing features at them just feels like being sold 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2148840"/>
            <a:ext cx="54406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22860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0F2A43"/>
                </a:solidFill>
                <a:latin typeface="Calibri"/>
              </a:rPr>
              <a:t>Two ways to drive adoption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743200"/>
            <a:ext cx="4983480" cy="914400"/>
          </a:xfrm>
          <a:prstGeom prst="roundRect">
            <a:avLst/>
          </a:prstGeom>
          <a:solidFill>
            <a:srgbClr val="FBECE7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852928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4572E"/>
                </a:solidFill>
                <a:latin typeface="Calibri"/>
              </a:rPr>
              <a:t>✕  The obvious play — cross-sell.  </a:t>
            </a:r>
            <a:r>
              <a:rPr sz="1250" b="0">
                <a:solidFill>
                  <a:srgbClr val="1A1A2E"/>
                </a:solidFill>
                <a:latin typeface="Calibri"/>
              </a:rPr>
              <a:t>Promote features, run campaigns, hope they bite. Intrusive, easy to ignore, low conversion.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94760"/>
            <a:ext cx="4983480" cy="960120"/>
          </a:xfrm>
          <a:prstGeom prst="roundRect">
            <a:avLst/>
          </a:prstGeom>
          <a:solidFill>
            <a:srgbClr val="E6F6F4"/>
          </a:solidFill>
          <a:ln w="12700">
            <a:solidFill>
              <a:srgbClr val="2B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3904487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B3A3"/>
                </a:solidFill>
                <a:latin typeface="Calibri"/>
              </a:rPr>
              <a:t>✓  Our play — adoption underneath the need.  </a:t>
            </a:r>
            <a:r>
              <a:rPr sz="1250" b="0">
                <a:solidFill>
                  <a:srgbClr val="1A1A2E"/>
                </a:solidFill>
                <a:latin typeface="Calibri"/>
              </a:rPr>
              <a:t>Read each tradie's real jobs and surface the next action that genuinely helps. The right feature rides in beneath the need.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074920"/>
            <a:ext cx="10652760" cy="1097280"/>
          </a:xfrm>
          <a:prstGeom prst="rect">
            <a:avLst/>
          </a:prstGeom>
          <a:solidFill>
            <a:srgbClr val="0F2A43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5230368"/>
            <a:ext cx="10149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2A900"/>
                </a:solidFill>
                <a:latin typeface="Calibri"/>
              </a:rPr>
              <a:t>We don't sell the feature — we solve the moment. </a:t>
            </a:r>
            <a:r>
              <a:rPr sz="1500" b="0">
                <a:solidFill>
                  <a:srgbClr val="FFFFFF"/>
                </a:solidFill>
                <a:latin typeface="Calibri"/>
              </a:rPr>
              <a:t>Help a tradie act on the right job, and feature adoption follows as a by-product. The open question: would that actually move retention and revenue? 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465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Next Best Action  ·  portfolio piece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420624"/>
            <a:ext cx="82296" cy="5029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A900"/>
                </a:solidFill>
                <a:latin typeface="Calibri"/>
              </a:rPr>
              <a:t>WHY WE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founding signal: more actions → more retention → more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572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E8AA8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Calibri"/>
              </a:rPr>
              <a:t>Before building anything, the data made the case. </a:t>
            </a:r>
            <a:r>
              <a:rPr sz="1500" b="0">
                <a:solidFill>
                  <a:srgbClr val="1A1A2E"/>
                </a:solidFill>
                <a:latin typeface="Calibri"/>
              </a:rPr>
              <a:t>Tradies who took more job-management actions renewed at far higher rates — and renewals are subscription revenue.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989755"/>
              </p:ext>
            </p:extLst>
          </p:nvPr>
        </p:nvGraphicFramePr>
        <p:xfrm>
          <a:off x="777240" y="2057400"/>
          <a:ext cx="649224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480560" y="224028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E4572E"/>
                </a:solidFill>
                <a:latin typeface="Calibri"/>
              </a:rPr>
              <a:t>Levels off at ≈ +8 pp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the more they do, the longer they stay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Regenerated for clarity from the original treatment-effect (dose-response) analysis. Shape preserved; axes relabelled in plain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057400"/>
            <a:ext cx="38862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43800" y="2057400"/>
            <a:ext cx="3886200" cy="914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44968" y="2148840"/>
            <a:ext cx="34838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Calibri"/>
              </a:rPr>
              <a:t>More recommended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478024"/>
            <a:ext cx="3483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tradies nudged to quote, follow up, book, invoice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4020" y="27889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A900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2990088"/>
            <a:ext cx="38862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2990088"/>
            <a:ext cx="3886200" cy="9144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44968" y="3081528"/>
            <a:ext cx="34838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Calibri"/>
              </a:rPr>
              <a:t>Higher retention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3410712"/>
            <a:ext cx="3483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engaged tradies are far less likely to churn (the curve →)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4020" y="3721608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BB3A3"/>
                </a:solidFill>
                <a:latin typeface="Calibr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0" y="3922776"/>
            <a:ext cx="38862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43800" y="3922776"/>
            <a:ext cx="3886200" cy="91440"/>
          </a:xfrm>
          <a:prstGeom prst="rect">
            <a:avLst/>
          </a:prstGeom>
          <a:solidFill>
            <a:srgbClr val="1C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44968" y="4014216"/>
            <a:ext cx="34838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Calibri"/>
              </a:rPr>
              <a:t>More renewals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8" y="4343400"/>
            <a:ext cx="3483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it's a paid subscription — staying = renewing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4020" y="4654296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4E80"/>
                </a:solidFill>
                <a:latin typeface="Calibri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43800" y="4855464"/>
            <a:ext cx="38862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43800" y="4855464"/>
            <a:ext cx="3886200" cy="9144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44968" y="4946904"/>
            <a:ext cx="34838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Calibri"/>
              </a:rPr>
              <a:t>More recurring revenue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4968" y="5276088"/>
            <a:ext cx="3483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retention compounds straight into MRR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989320"/>
            <a:ext cx="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543800" y="5897880"/>
            <a:ext cx="3886200" cy="56692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26679" y="6076020"/>
            <a:ext cx="361188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dirty="0">
                <a:solidFill>
                  <a:srgbClr val="F2A900"/>
                </a:solidFill>
                <a:latin typeface="Calibri"/>
              </a:rPr>
              <a:t>A 5 pp retention lift ≈ </a:t>
            </a:r>
            <a:r>
              <a:rPr sz="1250" b="1" dirty="0">
                <a:solidFill>
                  <a:srgbClr val="FFFFFF"/>
                </a:solidFill>
                <a:latin typeface="Calibri"/>
              </a:rPr>
              <a:t>$</a:t>
            </a:r>
            <a:r>
              <a:rPr lang="en-AU" sz="1250" b="1" dirty="0">
                <a:solidFill>
                  <a:srgbClr val="FFFFFF"/>
                </a:solidFill>
                <a:latin typeface="Calibri"/>
              </a:rPr>
              <a:t>350</a:t>
            </a:r>
            <a:r>
              <a:rPr sz="1250" b="1" dirty="0">
                <a:solidFill>
                  <a:srgbClr val="FFFFFF"/>
                </a:solidFill>
                <a:latin typeface="Calibri"/>
              </a:rPr>
              <a:t> extra MRR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4465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Next Best Action  ·  portfolio piece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Commercial case — the reason the project existed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420624"/>
            <a:ext cx="82296" cy="5029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A900"/>
                </a:solidFill>
                <a:latin typeface="Calibri"/>
              </a:rPr>
              <a:t>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bet: score every job, surface one clear next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572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E8AA8"/>
                </a:solidFill>
                <a:latin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A1A2E"/>
                </a:solidFill>
                <a:latin typeface="Calibri"/>
              </a:rPr>
              <a:t>If we can </a:t>
            </a:r>
            <a:r>
              <a:rPr sz="1700" b="1">
                <a:solidFill>
                  <a:srgbClr val="0F2A43"/>
                </a:solidFill>
                <a:latin typeface="Calibri"/>
              </a:rPr>
              <a:t>rank each job by how urgently it needs attention</a:t>
            </a:r>
            <a:r>
              <a:rPr sz="1700" b="0">
                <a:solidFill>
                  <a:srgbClr val="1A1A2E"/>
                </a:solidFill>
                <a:latin typeface="Calibri"/>
              </a:rPr>
              <a:t> and recommend </a:t>
            </a:r>
            <a:r>
              <a:rPr sz="1700" b="1">
                <a:solidFill>
                  <a:srgbClr val="0F2A43"/>
                </a:solidFill>
                <a:latin typeface="Calibri"/>
              </a:rPr>
              <a:t>the single most impactful thing to do next</a:t>
            </a:r>
            <a:r>
              <a:rPr sz="1700" b="0">
                <a:solidFill>
                  <a:srgbClr val="1A1A2E"/>
                </a:solidFill>
                <a:latin typeface="Calibri"/>
              </a:rPr>
              <a:t>, we turn an overwhelming list into a short, prioritised to-do — right inside the app.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43200"/>
            <a:ext cx="254203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05840" y="2971800"/>
            <a:ext cx="502920" cy="50292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99923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2084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Calibri"/>
              </a:rPr>
              <a:t>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77639"/>
            <a:ext cx="20848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Every job gets an urgency probability — not a binary flag.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0984" y="3383280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6B728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83864" y="2743200"/>
            <a:ext cx="254203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712464" y="2971800"/>
            <a:ext cx="502920" cy="50292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12464" y="299923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2464" y="3611880"/>
            <a:ext cx="2084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Calibri"/>
              </a:rPr>
              <a:t>Prioritise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2464" y="3977639"/>
            <a:ext cx="20848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Surface the few jobs that matter now, hide the noise.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7608" y="3383280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6B7280"/>
                </a:solidFill>
                <a:latin typeface="Calibri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2743200"/>
            <a:ext cx="254203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19088" y="2971800"/>
            <a:ext cx="502920" cy="50292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299923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611880"/>
            <a:ext cx="2084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Calibri"/>
              </a:rPr>
              <a:t>Recommend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977639"/>
            <a:ext cx="20848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Attach one concrete next action (e.g. send quote, chase payment).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14232" y="3383280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6B7280"/>
                </a:solidFill>
                <a:latin typeface="Calibri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97112" y="2743200"/>
            <a:ext cx="254203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25712" y="2971800"/>
            <a:ext cx="502920" cy="50292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25712" y="299923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2" y="3611880"/>
            <a:ext cx="2084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Calibri"/>
              </a:rPr>
              <a:t>Nudge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5712" y="3977639"/>
            <a:ext cx="20848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Show it in-product, where the tradie already works.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846320"/>
            <a:ext cx="10652760" cy="1005840"/>
          </a:xfrm>
          <a:prstGeom prst="rect">
            <a:avLst/>
          </a:prstGeom>
          <a:solidFill>
            <a:srgbClr val="F4F6F8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7240" y="4846320"/>
            <a:ext cx="10652760" cy="9144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1560" y="5029200"/>
            <a:ext cx="10149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Calibri"/>
              </a:rPr>
              <a:t>Success would look like: </a:t>
            </a:r>
            <a:r>
              <a:rPr sz="1500" b="0">
                <a:solidFill>
                  <a:srgbClr val="1A1A2E"/>
                </a:solidFill>
                <a:latin typeface="Calibri"/>
              </a:rPr>
              <a:t>more tradies engaging with more of their jobs, jobs progressing further through the lifecycle, and ultimately stronger retention.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4465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Next Best Action  ·  portfolio piece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936CF-C6E8-259D-F7B4-AB780CEC2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066758-775B-AC80-4963-6DF0988A387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A0209B-E9C6-094A-9A44-6D41DC019C86}"/>
              </a:ext>
            </a:extLst>
          </p:cNvPr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3BBB12-20DF-0670-B0FC-3419D094E982}"/>
              </a:ext>
            </a:extLst>
          </p:cNvPr>
          <p:cNvSpPr/>
          <p:nvPr/>
        </p:nvSpPr>
        <p:spPr>
          <a:xfrm>
            <a:off x="548640" y="420624"/>
            <a:ext cx="82296" cy="5029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8A80B2-2332-6E56-6626-66482F4F11B6}"/>
              </a:ext>
            </a:extLst>
          </p:cNvPr>
          <p:cNvSpPr txBox="1"/>
          <p:nvPr/>
        </p:nvSpPr>
        <p:spPr>
          <a:xfrm>
            <a:off x="777240" y="27432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AU" sz="1200" b="1" dirty="0">
                <a:solidFill>
                  <a:srgbClr val="F2A900"/>
                </a:solidFill>
                <a:latin typeface="Calibri"/>
              </a:rPr>
              <a:t>APPROACH</a:t>
            </a:r>
            <a:endParaRPr sz="1200" b="1" dirty="0">
              <a:solidFill>
                <a:srgbClr val="F2A900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AD46FC-C137-3F76-84A7-3E517DCBA6BF}"/>
              </a:ext>
            </a:extLst>
          </p:cNvPr>
          <p:cNvSpPr txBox="1"/>
          <p:nvPr/>
        </p:nvSpPr>
        <p:spPr>
          <a:xfrm>
            <a:off x="777240" y="530352"/>
            <a:ext cx="103327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AU" sz="2600" b="1" dirty="0">
                <a:solidFill>
                  <a:srgbClr val="FFFFFF"/>
                </a:solidFill>
                <a:latin typeface="Calibri"/>
              </a:rPr>
              <a:t>Pre Experience to Post Experience</a:t>
            </a:r>
            <a:endParaRPr sz="2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D0AB06-CA59-19EE-315B-967C0C1CE99B}"/>
              </a:ext>
            </a:extLst>
          </p:cNvPr>
          <p:cNvSpPr txBox="1"/>
          <p:nvPr/>
        </p:nvSpPr>
        <p:spPr>
          <a:xfrm>
            <a:off x="11338560" y="457200"/>
            <a:ext cx="6400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6E8AA8"/>
                </a:solidFill>
                <a:latin typeface="Calibri"/>
              </a:rPr>
              <a:t>0</a:t>
            </a:r>
            <a:r>
              <a:rPr lang="en-AU" sz="1300" b="1" dirty="0">
                <a:solidFill>
                  <a:srgbClr val="6E8AA8"/>
                </a:solidFill>
                <a:latin typeface="Calibri"/>
              </a:rPr>
              <a:t>7</a:t>
            </a:r>
            <a:endParaRPr sz="1300" b="1" dirty="0">
              <a:solidFill>
                <a:srgbClr val="6E8AA8"/>
              </a:solidFill>
              <a:latin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7D3EBF-8BAA-A762-9A4B-9C74B711805A}"/>
              </a:ext>
            </a:extLst>
          </p:cNvPr>
          <p:cNvSpPr txBox="1"/>
          <p:nvPr/>
        </p:nvSpPr>
        <p:spPr>
          <a:xfrm>
            <a:off x="958251" y="1614249"/>
            <a:ext cx="275681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AU" sz="1600" b="1" dirty="0">
                <a:solidFill>
                  <a:srgbClr val="0F2A43"/>
                </a:solidFill>
                <a:latin typeface="Calibri"/>
              </a:rPr>
              <a:t> Pre Experience for the Tradie</a:t>
            </a:r>
            <a:endParaRPr sz="1600" b="1" dirty="0">
              <a:solidFill>
                <a:srgbClr val="0F2A43"/>
              </a:solidFill>
              <a:latin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D0F29E-9C4C-7EB9-0213-B31D3BFDCD5C}"/>
              </a:ext>
            </a:extLst>
          </p:cNvPr>
          <p:cNvSpPr txBox="1"/>
          <p:nvPr/>
        </p:nvSpPr>
        <p:spPr>
          <a:xfrm>
            <a:off x="5507664" y="1581912"/>
            <a:ext cx="252076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AU" sz="1600" b="1" dirty="0">
                <a:solidFill>
                  <a:srgbClr val="0F2A43"/>
                </a:solidFill>
                <a:latin typeface="Calibri"/>
              </a:rPr>
              <a:t>Post Experience for the Tradie</a:t>
            </a:r>
            <a:endParaRPr sz="1600" b="1" dirty="0">
              <a:solidFill>
                <a:srgbClr val="0F2A43"/>
              </a:solidFill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BB02BD-0F49-6130-BDEB-F71462811EF4}"/>
              </a:ext>
            </a:extLst>
          </p:cNvPr>
          <p:cNvSpPr txBox="1"/>
          <p:nvPr/>
        </p:nvSpPr>
        <p:spPr>
          <a:xfrm>
            <a:off x="777240" y="64465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Next Best Action  ·  portfolio piece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BC6EAA6-9945-0166-5E6B-C2B74A573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3467" y="2346606"/>
            <a:ext cx="2257435" cy="339922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9ED2AE9-0731-7543-B1FF-F2BA24B74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636" y="2001869"/>
            <a:ext cx="2379076" cy="468478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5EC5C89-6067-3492-66DE-2F17FED50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653" y="2034206"/>
            <a:ext cx="2047204" cy="4238578"/>
          </a:xfrm>
          <a:prstGeom prst="rect">
            <a:avLst/>
          </a:prstGeom>
        </p:spPr>
      </p:pic>
      <p:sp>
        <p:nvSpPr>
          <p:cNvPr id="39" name="Right Arrow 38">
            <a:extLst>
              <a:ext uri="{FF2B5EF4-FFF2-40B4-BE49-F238E27FC236}">
                <a16:creationId xmlns:a16="http://schemas.microsoft.com/office/drawing/2014/main" id="{08B20832-37A3-2229-93D2-07EC1D35B125}"/>
              </a:ext>
            </a:extLst>
          </p:cNvPr>
          <p:cNvSpPr/>
          <p:nvPr/>
        </p:nvSpPr>
        <p:spPr>
          <a:xfrm>
            <a:off x="3987209" y="3795823"/>
            <a:ext cx="676231" cy="233917"/>
          </a:xfrm>
          <a:prstGeom prst="rightArrow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18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420624"/>
            <a:ext cx="82296" cy="5029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A900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End to end: from data sources to a validated, in-app nudge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57200"/>
            <a:ext cx="6400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AU" sz="1300" b="1" dirty="0">
                <a:solidFill>
                  <a:srgbClr val="6E8AA8"/>
                </a:solidFill>
                <a:latin typeface="Calibri"/>
              </a:rPr>
              <a:t>08</a:t>
            </a:r>
            <a:endParaRPr sz="1300" b="1" dirty="0">
              <a:solidFill>
                <a:srgbClr val="6E8AA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F2A43"/>
                </a:solidFill>
                <a:latin typeface="Calibri"/>
              </a:rPr>
              <a:t>One pipeline, five stages — with experiment-based validation wrapped around the live product. </a:t>
            </a:r>
            <a:r>
              <a:rPr sz="1350" b="0">
                <a:solidFill>
                  <a:srgbClr val="1A1A2E"/>
                </a:solidFill>
                <a:latin typeface="Calibri"/>
              </a:rPr>
              <a:t>Emphasis on modelling, output, validation and surfacing.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219456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2194560" cy="457200"/>
          </a:xfrm>
          <a:prstGeom prst="rect">
            <a:avLst/>
          </a:prstGeom>
          <a:solidFill>
            <a:srgbClr val="1C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1828800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1 · Data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395728"/>
            <a:ext cx="1938528" cy="1923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dirty="0">
                <a:solidFill>
                  <a:srgbClr val="1C4E80"/>
                </a:solidFill>
                <a:latin typeface="Calibri"/>
              </a:rPr>
              <a:t>• </a:t>
            </a:r>
            <a:r>
              <a:rPr sz="1000" dirty="0">
                <a:solidFill>
                  <a:srgbClr val="1A1A2E"/>
                </a:solidFill>
                <a:latin typeface="Calibri"/>
              </a:rPr>
              <a:t>Back-end job entities: jobs, quotes, estimates, invoices, appointments, payments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dirty="0">
                <a:solidFill>
                  <a:srgbClr val="1C4E80"/>
                </a:solidFill>
                <a:latin typeface="Calibri"/>
              </a:rPr>
              <a:t>• </a:t>
            </a:r>
            <a:r>
              <a:rPr sz="1000" dirty="0">
                <a:solidFill>
                  <a:srgbClr val="1A1A2E"/>
                </a:solidFill>
                <a:latin typeface="Calibri"/>
              </a:rPr>
              <a:t>Front-end engagement events (in-app actions)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dirty="0">
                <a:solidFill>
                  <a:srgbClr val="1C4E80"/>
                </a:solidFill>
                <a:latin typeface="Calibri"/>
              </a:rPr>
              <a:t>• </a:t>
            </a:r>
            <a:r>
              <a:rPr sz="1000" dirty="0">
                <a:solidFill>
                  <a:srgbClr val="1A1A2E"/>
                </a:solidFill>
                <a:latin typeface="Calibri"/>
              </a:rPr>
              <a:t>Subscription &amp; lifecycle data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dirty="0">
                <a:solidFill>
                  <a:srgbClr val="1C4E80"/>
                </a:solidFill>
                <a:latin typeface="Calibri"/>
              </a:rPr>
              <a:t>• </a:t>
            </a:r>
            <a:r>
              <a:rPr sz="1000" dirty="0">
                <a:solidFill>
                  <a:srgbClr val="1A1A2E"/>
                </a:solidFill>
                <a:latin typeface="Calibri"/>
              </a:rPr>
              <a:t>→ Lakehouse: bronze → silver → gold</a:t>
            </a:r>
            <a:endParaRPr lang="en-AU" sz="1000" dirty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AU" sz="1000" dirty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sz="100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19756" y="29946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C4E80"/>
                </a:solidFill>
                <a:latin typeface="Calibri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6352" y="1828800"/>
            <a:ext cx="219456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16352" y="1828800"/>
            <a:ext cx="2194560" cy="457200"/>
          </a:xfrm>
          <a:prstGeom prst="rect">
            <a:avLst/>
          </a:prstGeom>
          <a:solidFill>
            <a:srgbClr val="1C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1828800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2 · Feature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2395728"/>
            <a:ext cx="1938528" cy="17016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dirty="0">
                <a:solidFill>
                  <a:srgbClr val="1C4E80"/>
                </a:solidFill>
                <a:latin typeface="Calibri"/>
              </a:rPr>
              <a:t>• </a:t>
            </a:r>
            <a:r>
              <a:rPr sz="1000" dirty="0">
                <a:solidFill>
                  <a:srgbClr val="1A1A2E"/>
                </a:solidFill>
                <a:latin typeface="Calibri"/>
              </a:rPr>
              <a:t>Clean, key &amp; join (per-</a:t>
            </a:r>
            <a:r>
              <a:rPr sz="1000" dirty="0" err="1">
                <a:solidFill>
                  <a:srgbClr val="1A1A2E"/>
                </a:solidFill>
                <a:latin typeface="Calibri"/>
              </a:rPr>
              <a:t>tradie</a:t>
            </a:r>
            <a:r>
              <a:rPr lang="en-AU" sz="1000" dirty="0">
                <a:solidFill>
                  <a:srgbClr val="1A1A2E"/>
                </a:solidFill>
                <a:latin typeface="Calibri"/>
              </a:rPr>
              <a:t> per-job</a:t>
            </a:r>
            <a:r>
              <a:rPr sz="1000" dirty="0">
                <a:solidFill>
                  <a:srgbClr val="1A1A2E"/>
                </a:solidFill>
                <a:latin typeface="Calibri"/>
              </a:rPr>
              <a:t> composite keys)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dirty="0">
                <a:solidFill>
                  <a:srgbClr val="1C4E80"/>
                </a:solidFill>
                <a:latin typeface="Calibri"/>
              </a:rPr>
              <a:t>• </a:t>
            </a:r>
            <a:r>
              <a:rPr sz="1000" dirty="0">
                <a:solidFill>
                  <a:srgbClr val="1A1A2E"/>
                </a:solidFill>
                <a:latin typeface="Calibri"/>
              </a:rPr>
              <a:t>50+ features across 7 signal groups</a:t>
            </a:r>
            <a:endParaRPr lang="en-AU" sz="1000" dirty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n-AU" sz="1000" b="1" dirty="0">
                <a:solidFill>
                  <a:srgbClr val="1C4E80"/>
                </a:solidFill>
              </a:rPr>
              <a:t>• </a:t>
            </a:r>
            <a:r>
              <a:rPr lang="en-AU" sz="1000" dirty="0">
                <a:solidFill>
                  <a:srgbClr val="1A1A2E"/>
                </a:solidFill>
              </a:rPr>
              <a:t>Platform engagement signals (actions taken in-app)</a:t>
            </a:r>
          </a:p>
          <a:p>
            <a:pPr>
              <a:spcAft>
                <a:spcPts val="600"/>
              </a:spcAft>
            </a:pPr>
            <a:r>
              <a:rPr lang="en-AU" sz="1000" b="1" dirty="0">
                <a:solidFill>
                  <a:srgbClr val="1C4E80"/>
                </a:solidFill>
              </a:rPr>
              <a:t>• </a:t>
            </a:r>
            <a:r>
              <a:rPr lang="en-AU" sz="1000" dirty="0">
                <a:solidFill>
                  <a:srgbClr val="1A1A2E"/>
                </a:solidFill>
              </a:rPr>
              <a:t>Activity volume &amp; velocity per account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AU" sz="1000" b="1" dirty="0">
                <a:solidFill>
                  <a:srgbClr val="1C4E80"/>
                </a:solidFill>
              </a:rPr>
              <a:t>• </a:t>
            </a:r>
            <a:r>
              <a:rPr lang="en-AU" sz="1000" dirty="0">
                <a:solidFill>
                  <a:srgbClr val="1A1A2E"/>
                </a:solidFill>
              </a:rPr>
              <a:t>Distinguishes active operators from dormant 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3188" y="29946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C4E80"/>
                </a:solidFill>
                <a:latin typeface="Calibri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9784" y="1828800"/>
            <a:ext cx="2194560" cy="2697480"/>
          </a:xfrm>
          <a:prstGeom prst="rect">
            <a:avLst/>
          </a:prstGeom>
          <a:solidFill>
            <a:srgbClr val="FFFFFF"/>
          </a:solidFill>
          <a:ln w="22225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9784" y="1828800"/>
            <a:ext cx="2194560" cy="4572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39512" y="1828800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3 · Modelling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8856" y="1865376"/>
            <a:ext cx="42062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395728"/>
            <a:ext cx="1938528" cy="202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2A900"/>
                </a:solidFill>
                <a:latin typeface="Calibri"/>
              </a:rPr>
              <a:t>• </a:t>
            </a:r>
            <a:r>
              <a:rPr sz="1000">
                <a:solidFill>
                  <a:srgbClr val="1A1A2E"/>
                </a:solidFill>
                <a:latin typeface="Calibri"/>
              </a:rPr>
              <a:t>Multinomial logistic regression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2A900"/>
                </a:solidFill>
                <a:latin typeface="Calibri"/>
              </a:rPr>
              <a:t>• </a:t>
            </a:r>
            <a:r>
              <a:rPr sz="1000">
                <a:solidFill>
                  <a:srgbClr val="1A1A2E"/>
                </a:solidFill>
                <a:latin typeface="Calibri"/>
              </a:rPr>
              <a:t>Calibrated probability per job: Urgent / Follow-up / Cold / None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2A900"/>
                </a:solidFill>
                <a:latin typeface="Calibri"/>
              </a:rPr>
              <a:t>• </a:t>
            </a:r>
            <a:r>
              <a:rPr sz="1000">
                <a:solidFill>
                  <a:srgbClr val="1A1A2E"/>
                </a:solidFill>
                <a:latin typeface="Calibri"/>
              </a:rPr>
              <a:t>Priority-ordered next-action logic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2A900"/>
                </a:solidFill>
                <a:latin typeface="Calibri"/>
              </a:rPr>
              <a:t>• </a:t>
            </a:r>
            <a:r>
              <a:rPr sz="1000">
                <a:solidFill>
                  <a:srgbClr val="1A1A2E"/>
                </a:solidFill>
                <a:latin typeface="Calibri"/>
              </a:rPr>
              <a:t>→ Scored-jobs 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6620" y="29946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2A900"/>
                </a:solidFill>
                <a:latin typeface="Calibri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43216" y="1828800"/>
            <a:ext cx="2194560" cy="2697480"/>
          </a:xfrm>
          <a:prstGeom prst="rect">
            <a:avLst/>
          </a:prstGeom>
          <a:solidFill>
            <a:srgbClr val="FFFFFF"/>
          </a:solidFill>
          <a:ln w="22225">
            <a:solidFill>
              <a:srgbClr val="2B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43216" y="1828800"/>
            <a:ext cx="2194560" cy="45720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52944" y="1828800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4 · Output &amp; serving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1865376"/>
            <a:ext cx="42062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2" y="2395728"/>
            <a:ext cx="1938528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dirty="0">
                <a:solidFill>
                  <a:srgbClr val="2BB3A3"/>
                </a:solidFill>
                <a:latin typeface="Calibri"/>
              </a:rPr>
              <a:t>• </a:t>
            </a:r>
            <a:r>
              <a:rPr sz="1000" dirty="0">
                <a:solidFill>
                  <a:srgbClr val="1A1A2E"/>
                </a:solidFill>
                <a:latin typeface="Calibri"/>
              </a:rPr>
              <a:t>Smart Groups builder (Immediate / Follow-up, capped)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dirty="0">
                <a:solidFill>
                  <a:srgbClr val="2BB3A3"/>
                </a:solidFill>
                <a:latin typeface="Calibri"/>
              </a:rPr>
              <a:t>• </a:t>
            </a:r>
            <a:r>
              <a:rPr sz="1000" dirty="0">
                <a:solidFill>
                  <a:srgbClr val="1A1A2E"/>
                </a:solidFill>
                <a:latin typeface="Calibri"/>
              </a:rPr>
              <a:t>Scheduled refresh + cache → serving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60052" y="29946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BB3A3"/>
                </a:solidFill>
                <a:latin typeface="Calibri"/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6648" y="1828800"/>
            <a:ext cx="2194560" cy="2697480"/>
          </a:xfrm>
          <a:prstGeom prst="rect">
            <a:avLst/>
          </a:prstGeom>
          <a:solidFill>
            <a:srgbClr val="FFFFFF"/>
          </a:solidFill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756648" y="1828800"/>
            <a:ext cx="2194560" cy="45720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66376" y="1828800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5 · Surfacing in-app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1865376"/>
            <a:ext cx="42062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84664" y="2395728"/>
            <a:ext cx="1938528" cy="202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E4572E"/>
                </a:solidFill>
                <a:latin typeface="Calibri"/>
              </a:rPr>
              <a:t>• </a:t>
            </a:r>
            <a:r>
              <a:rPr sz="1000">
                <a:solidFill>
                  <a:srgbClr val="1A1A2E"/>
                </a:solidFill>
                <a:latin typeface="Calibri"/>
              </a:rPr>
              <a:t>Smart Groups at the top of the job list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E4572E"/>
                </a:solidFill>
                <a:latin typeface="Calibri"/>
              </a:rPr>
              <a:t>• </a:t>
            </a:r>
            <a:r>
              <a:rPr sz="1000">
                <a:solidFill>
                  <a:srgbClr val="1A1A2E"/>
                </a:solidFill>
                <a:latin typeface="Calibri"/>
              </a:rPr>
              <a:t>Tradie sees prioritised jobs + recommended action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E4572E"/>
                </a:solidFill>
                <a:latin typeface="Calibri"/>
              </a:rPr>
              <a:t>• </a:t>
            </a:r>
            <a:r>
              <a:rPr sz="1000">
                <a:solidFill>
                  <a:srgbClr val="1A1A2E"/>
                </a:solidFill>
                <a:latin typeface="Calibri"/>
              </a:rPr>
              <a:t>Acts in-product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754880"/>
            <a:ext cx="11201400" cy="1143000"/>
          </a:xfrm>
          <a:prstGeom prst="rect">
            <a:avLst/>
          </a:prstGeom>
          <a:solidFill>
            <a:srgbClr val="F4F6F8"/>
          </a:solidFill>
          <a:ln w="22225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2920" y="4754880"/>
            <a:ext cx="109728" cy="11430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4846320"/>
            <a:ext cx="107899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dirty="0">
                <a:solidFill>
                  <a:srgbClr val="0F2A43"/>
                </a:solidFill>
                <a:latin typeface="Calibri"/>
              </a:rPr>
              <a:t>★  Validation — experiment design</a:t>
            </a:r>
            <a:r>
              <a:rPr lang="en-AU" sz="1300" b="1" dirty="0">
                <a:solidFill>
                  <a:srgbClr val="0F2A43"/>
                </a:solidFill>
                <a:latin typeface="Calibri"/>
              </a:rPr>
              <a:t> (A/B Test)</a:t>
            </a:r>
            <a:r>
              <a:rPr sz="1300" b="1" dirty="0">
                <a:solidFill>
                  <a:srgbClr val="0F2A43"/>
                </a:solidFill>
                <a:latin typeface="Calibri"/>
              </a:rPr>
              <a:t> &amp; measurement</a:t>
            </a:r>
            <a:r>
              <a:rPr sz="1150" b="0" dirty="0">
                <a:solidFill>
                  <a:srgbClr val="6B7280"/>
                </a:solidFill>
                <a:latin typeface="Calibri"/>
              </a:rPr>
              <a:t>   (the product is wrapped in a live 50/50 A/B test)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5230368"/>
            <a:ext cx="2542032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0120" y="5230368"/>
            <a:ext cx="23591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F2A43"/>
                </a:solidFill>
                <a:latin typeface="Calibri"/>
              </a:rPr>
              <a:t>Randomise tradies → Test / Control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2988" y="531266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A900"/>
                </a:solidFill>
                <a:latin typeface="Calibri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29584" y="5230368"/>
            <a:ext cx="2542032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21024" y="5230368"/>
            <a:ext cx="23591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F2A43"/>
                </a:solidFill>
                <a:latin typeface="Calibri"/>
              </a:rPr>
              <a:t>Capture real behaviour (events)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93892" y="531266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A900"/>
                </a:solidFill>
                <a:latin typeface="Calibri"/>
              </a:rP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90488" y="5230368"/>
            <a:ext cx="2542032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81928" y="5230368"/>
            <a:ext cx="23591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F2A43"/>
                </a:solidFill>
                <a:latin typeface="Calibri"/>
              </a:rPr>
              <a:t>Metrics: key-action lift · retention · funnel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54796" y="531266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A900"/>
                </a:solidFill>
                <a:latin typeface="Calibri"/>
              </a:rPr>
              <a:t>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51392" y="5230368"/>
            <a:ext cx="2542032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942832" y="5230368"/>
            <a:ext cx="23591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F2A43"/>
                </a:solidFill>
                <a:latin typeface="Calibri"/>
              </a:rPr>
              <a:t>Daily monitoring dashboard → read-out</a:t>
            </a:r>
          </a:p>
        </p:txBody>
      </p:sp>
      <p:sp>
        <p:nvSpPr>
          <p:cNvPr id="50" name="Down Arrow 49"/>
          <p:cNvSpPr/>
          <p:nvPr/>
        </p:nvSpPr>
        <p:spPr>
          <a:xfrm>
            <a:off x="10799064" y="4526280"/>
            <a:ext cx="109728" cy="502920"/>
          </a:xfrm>
          <a:prstGeom prst="downArrow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77240" y="603504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2A900"/>
                </a:solidFill>
                <a:latin typeface="Calibri"/>
              </a:rPr>
              <a:t>Closed loop:  </a:t>
            </a:r>
            <a:r>
              <a:rPr sz="1100" b="0">
                <a:solidFill>
                  <a:srgbClr val="6B7280"/>
                </a:solidFill>
                <a:latin typeface="Calibri"/>
              </a:rPr>
              <a:t>experiment findings feed the next iteration — retrain, re-target, refine the nudge.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64465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Next Best Action  ·  portfolio piece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Internal table / service names omitted — anonymised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420624"/>
            <a:ext cx="82296" cy="5029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A900"/>
                </a:solidFill>
                <a:latin typeface="Calibri"/>
              </a:rPr>
              <a:t>THE MODEL ·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3327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dirty="0">
                <a:solidFill>
                  <a:srgbClr val="FFFFFF"/>
                </a:solidFill>
                <a:latin typeface="Calibri"/>
              </a:rPr>
              <a:t>50+ features across seven signal groups</a:t>
            </a:r>
            <a:r>
              <a:rPr lang="en-AU" sz="2600" b="1" dirty="0">
                <a:solidFill>
                  <a:srgbClr val="FFFFFF"/>
                </a:solidFill>
                <a:latin typeface="Calibri"/>
              </a:rPr>
              <a:t> – Feature Pipeline</a:t>
            </a:r>
            <a:endParaRPr sz="2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38560" y="4572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E8AA8"/>
                </a:solidFill>
                <a:latin typeface="Calibr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1A1A2E"/>
                </a:solidFill>
                <a:latin typeface="Calibri"/>
              </a:rPr>
              <a:t>Engineered to capture not just a job's state, but how that state compares to what should happen next.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340156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148840"/>
            <a:ext cx="3401568" cy="914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2276856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Calibri"/>
              </a:rPr>
              <a:t>Recency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651760"/>
            <a:ext cx="29992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days since last activity, job age, staleness bucket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8264" y="2148840"/>
            <a:ext cx="340156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98264" y="2148840"/>
            <a:ext cx="3401568" cy="9144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9432" y="2276856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Calibri"/>
              </a:rPr>
              <a:t>Frequency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51760"/>
            <a:ext cx="29992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counts of quotes, invoices, total entities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9288" y="2148840"/>
            <a:ext cx="340156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19288" y="2148840"/>
            <a:ext cx="3401568" cy="9144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0456" y="2276856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Calibri"/>
              </a:rPr>
              <a:t>Financial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651760"/>
            <a:ext cx="29992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money at risk, overdue amount, quote/invoice size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429000"/>
            <a:ext cx="340156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3429000"/>
            <a:ext cx="3401568" cy="91440"/>
          </a:xfrm>
          <a:prstGeom prst="rect">
            <a:avLst/>
          </a:prstGeom>
          <a:solidFill>
            <a:srgbClr val="1C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" y="3557016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Calibri"/>
              </a:rPr>
              <a:t>Lifecycle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3931920"/>
            <a:ext cx="29992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completeness score, stage, entity-presence flags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8264" y="3429000"/>
            <a:ext cx="340156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98264" y="3429000"/>
            <a:ext cx="3401568" cy="914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99432" y="3557016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Calibri"/>
              </a:rPr>
              <a:t>Behavioural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3931920"/>
            <a:ext cx="29992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status-vs-reality mismatch, work-done-no-invoice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19288" y="3429000"/>
            <a:ext cx="340156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19288" y="3429000"/>
            <a:ext cx="3401568" cy="9144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0456" y="3557016"/>
            <a:ext cx="299923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F2A43"/>
                </a:solidFill>
                <a:latin typeface="Calibri"/>
              </a:rPr>
              <a:t>Engagement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6" y="3931920"/>
            <a:ext cx="29992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platform action count &amp; velocity per account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4465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Next Best Action  ·  portfolio piece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420624"/>
            <a:ext cx="82296" cy="5029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A900"/>
                </a:solidFill>
                <a:latin typeface="Calibri"/>
              </a:rPr>
              <a:t>THE MODEL · CHOICE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Why logistic regression — interpretability with calibration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572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E8AA8"/>
                </a:solidFill>
                <a:latin typeface="Calibr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52120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5212080" cy="914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Calibri"/>
              </a:rPr>
              <a:t>The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03120"/>
            <a:ext cx="48463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2A900"/>
                </a:solidFill>
                <a:latin typeface="Calibri"/>
              </a:rPr>
              <a:t>▪  </a:t>
            </a:r>
            <a:r>
              <a:rPr sz="1300" b="1">
                <a:solidFill>
                  <a:srgbClr val="1A1A2E"/>
                </a:solidFill>
                <a:latin typeface="Calibri"/>
              </a:rPr>
              <a:t>Target: </a:t>
            </a:r>
            <a:r>
              <a:rPr sz="1300" b="0">
                <a:solidFill>
                  <a:srgbClr val="1A1A2E"/>
                </a:solidFill>
                <a:latin typeface="Calibri"/>
              </a:rPr>
              <a:t>4 classes — Urgent, Follow-up, Cold, none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2A900"/>
                </a:solidFill>
                <a:latin typeface="Calibri"/>
              </a:rPr>
              <a:t>▪  </a:t>
            </a:r>
            <a:r>
              <a:rPr sz="1300" b="1">
                <a:solidFill>
                  <a:srgbClr val="1A1A2E"/>
                </a:solidFill>
                <a:latin typeface="Calibri"/>
              </a:rPr>
              <a:t>Multinomial, </a:t>
            </a:r>
            <a:r>
              <a:rPr sz="1300" b="0">
                <a:solidFill>
                  <a:srgbClr val="1A1A2E"/>
                </a:solidFill>
                <a:latin typeface="Calibri"/>
              </a:rPr>
              <a:t>L2-regularised; standardised features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2A900"/>
                </a:solidFill>
                <a:latin typeface="Calibri"/>
              </a:rPr>
              <a:t>▪  </a:t>
            </a:r>
            <a:r>
              <a:rPr sz="1300" b="1">
                <a:solidFill>
                  <a:srgbClr val="1A1A2E"/>
                </a:solidFill>
                <a:latin typeface="Calibri"/>
              </a:rPr>
              <a:t>Balanced class weights </a:t>
            </a:r>
            <a:r>
              <a:rPr sz="1300" b="0">
                <a:solidFill>
                  <a:srgbClr val="1A1A2E"/>
                </a:solidFill>
                <a:latin typeface="Calibri"/>
              </a:rPr>
              <a:t>for the rare Follow-up class (~3%)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2A900"/>
                </a:solidFill>
                <a:latin typeface="Calibri"/>
              </a:rPr>
              <a:t>▪  </a:t>
            </a:r>
            <a:r>
              <a:rPr sz="1300" b="1">
                <a:solidFill>
                  <a:srgbClr val="1A1A2E"/>
                </a:solidFill>
                <a:latin typeface="Calibri"/>
              </a:rPr>
              <a:t>70/30 stratified split, </a:t>
            </a:r>
            <a:r>
              <a:rPr sz="1300" b="0">
                <a:solidFill>
                  <a:srgbClr val="1A1A2E"/>
                </a:solidFill>
                <a:latin typeface="Calibri"/>
              </a:rPr>
              <a:t>fixed seed for reproducibility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2120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212080" cy="9144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Calibri"/>
              </a:rPr>
              <a:t>Why this model, not a black 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03120"/>
            <a:ext cx="48463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BB3A3"/>
                </a:solidFill>
                <a:latin typeface="Calibri"/>
              </a:rPr>
              <a:t>▪  </a:t>
            </a:r>
            <a:r>
              <a:rPr sz="1300" b="1">
                <a:solidFill>
                  <a:srgbClr val="1A1A2E"/>
                </a:solidFill>
                <a:latin typeface="Calibri"/>
              </a:rPr>
              <a:t>Interpretable: </a:t>
            </a:r>
            <a:r>
              <a:rPr sz="1300" b="0">
                <a:solidFill>
                  <a:srgbClr val="1A1A2E"/>
                </a:solidFill>
                <a:latin typeface="Calibri"/>
              </a:rPr>
              <a:t>coefficients map to feature importance the business can trust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BB3A3"/>
                </a:solidFill>
                <a:latin typeface="Calibri"/>
              </a:rPr>
              <a:t>▪  </a:t>
            </a:r>
            <a:r>
              <a:rPr sz="1300" b="1">
                <a:solidFill>
                  <a:srgbClr val="1A1A2E"/>
                </a:solidFill>
                <a:latin typeface="Calibri"/>
              </a:rPr>
              <a:t>Calibrated: </a:t>
            </a:r>
            <a:r>
              <a:rPr sz="1300" b="0">
                <a:solidFill>
                  <a:srgbClr val="1A1A2E"/>
                </a:solidFill>
                <a:latin typeface="Calibri"/>
              </a:rPr>
              <a:t>a continuous probability, so we can rank and threshold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BB3A3"/>
                </a:solidFill>
                <a:latin typeface="Calibri"/>
              </a:rPr>
              <a:t>▪  </a:t>
            </a:r>
            <a:r>
              <a:rPr sz="1300" b="1">
                <a:solidFill>
                  <a:srgbClr val="1A1A2E"/>
                </a:solidFill>
                <a:latin typeface="Calibri"/>
              </a:rPr>
              <a:t>Robust: </a:t>
            </a:r>
            <a:r>
              <a:rPr sz="1300" b="0">
                <a:solidFill>
                  <a:srgbClr val="1A1A2E"/>
                </a:solidFill>
                <a:latin typeface="Calibri"/>
              </a:rPr>
              <a:t>weak signals compound sensibly into urgency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BB3A3"/>
                </a:solidFill>
                <a:latin typeface="Calibri"/>
              </a:rPr>
              <a:t>▪  </a:t>
            </a:r>
            <a:r>
              <a:rPr sz="1300" b="1">
                <a:solidFill>
                  <a:srgbClr val="1A1A2E"/>
                </a:solidFill>
                <a:latin typeface="Calibri"/>
              </a:rPr>
              <a:t>Right-sized: </a:t>
            </a:r>
            <a:r>
              <a:rPr sz="1300" b="0">
                <a:solidFill>
                  <a:srgbClr val="1A1A2E"/>
                </a:solidFill>
                <a:latin typeface="Calibri"/>
              </a:rPr>
              <a:t>no over-engineering for the data on hand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51960"/>
            <a:ext cx="10652760" cy="1600200"/>
          </a:xfrm>
          <a:prstGeom prst="rect">
            <a:avLst/>
          </a:prstGeom>
          <a:solidFill>
            <a:srgbClr val="0F2A43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434840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2A900"/>
                </a:solidFill>
                <a:latin typeface="Calibri"/>
              </a:rPr>
              <a:t>The key judgement call — proxy 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892040"/>
            <a:ext cx="10149840" cy="7286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dirty="0">
                <a:solidFill>
                  <a:srgbClr val="FFFFFF"/>
                </a:solidFill>
                <a:latin typeface="Calibri"/>
              </a:rPr>
              <a:t>We had no human-labelled ground truth, so the v1 rules became the training labels. The model's value isn't replicating rules — it's learning the </a:t>
            </a:r>
            <a:r>
              <a:rPr sz="1400" b="1" dirty="0">
                <a:solidFill>
                  <a:srgbClr val="F2A900"/>
                </a:solidFill>
                <a:latin typeface="Calibri"/>
              </a:rPr>
              <a:t>interactions and edge cases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rigid rules miss</a:t>
            </a:r>
            <a:r>
              <a:rPr lang="en-AU" sz="140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and producing a calibrated score instead of a hard flag. I was explicit that this caps the model's ceiling at the quality of the rules.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465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Next Best Action  ·  portfolio piece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420624"/>
            <a:ext cx="82296" cy="5029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A900"/>
                </a:solidFill>
                <a:latin typeface="Calibri"/>
              </a:rPr>
              <a:t>FROM MODEL TO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Turning scores into an in-app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57200"/>
            <a:ext cx="6400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6E8AA8"/>
                </a:solidFill>
                <a:latin typeface="Calibri"/>
              </a:rPr>
              <a:t>1</a:t>
            </a:r>
            <a:r>
              <a:rPr lang="en-AU" sz="1300" b="1" dirty="0">
                <a:solidFill>
                  <a:srgbClr val="6E8AA8"/>
                </a:solidFill>
                <a:latin typeface="Calibri"/>
              </a:rPr>
              <a:t>1</a:t>
            </a:r>
            <a:endParaRPr sz="1300" b="1" dirty="0">
              <a:solidFill>
                <a:srgbClr val="6E8AA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1A1A2E"/>
                </a:solidFill>
                <a:latin typeface="Calibri"/>
              </a:rPr>
              <a:t>A model in a notebook changes nothing. The scores were packaged into “Smart Groups” that meet the tradie where they already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94560"/>
            <a:ext cx="254203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194560"/>
            <a:ext cx="2542032" cy="91440"/>
          </a:xfrm>
          <a:prstGeom prst="rect">
            <a:avLst/>
          </a:prstGeom>
          <a:solidFill>
            <a:srgbClr val="1C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2377440"/>
            <a:ext cx="213969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C4E80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743200"/>
            <a:ext cx="21396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0F2A43"/>
                </a:solidFill>
                <a:latin typeface="Calibri"/>
              </a:rPr>
              <a:t>Score jobs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46120"/>
            <a:ext cx="213969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Model ranks every active job by urgency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82696" y="2926080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6B728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83864" y="2194560"/>
            <a:ext cx="254203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83864" y="2194560"/>
            <a:ext cx="2542032" cy="914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85032" y="2377440"/>
            <a:ext cx="213969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2A900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2743200"/>
            <a:ext cx="21396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0F2A43"/>
                </a:solidFill>
                <a:latin typeface="Calibri"/>
              </a:rPr>
              <a:t>Form groups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3246120"/>
            <a:ext cx="213969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Top jobs split into “Immediate action” + “Follow up”, capped to a short 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926080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6B7280"/>
                </a:solidFill>
                <a:latin typeface="Calibri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2194560"/>
            <a:ext cx="254203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0488" y="2194560"/>
            <a:ext cx="2542032" cy="9144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91656" y="2377440"/>
            <a:ext cx="213969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BB3A3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743200"/>
            <a:ext cx="21396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0F2A43"/>
                </a:solidFill>
                <a:latin typeface="Calibri"/>
              </a:rPr>
              <a:t>Pick the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3246120"/>
            <a:ext cx="213969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A language model selects a concrete call-to-action + one-line reason per job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95944" y="2926080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6B7280"/>
                </a:solidFill>
                <a:latin typeface="Calibri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97112" y="2194560"/>
            <a:ext cx="254203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897112" y="2194560"/>
            <a:ext cx="2542032" cy="9144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98280" y="2377440"/>
            <a:ext cx="213969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4572E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2743200"/>
            <a:ext cx="21396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0F2A43"/>
                </a:solidFill>
                <a:latin typeface="Calibri"/>
              </a:rPr>
              <a:t>Surface in-app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246120"/>
            <a:ext cx="213969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Shown at the top of the job list; refreshed on a schedule &amp; cached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709160"/>
            <a:ext cx="10652760" cy="1143000"/>
          </a:xfrm>
          <a:prstGeom prst="rect">
            <a:avLst/>
          </a:prstGeom>
          <a:solidFill>
            <a:srgbClr val="0F2A43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1560" y="4892040"/>
            <a:ext cx="10149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2A900"/>
                </a:solidFill>
                <a:latin typeface="Calibri"/>
              </a:rPr>
              <a:t>Design choice: </a:t>
            </a:r>
            <a:r>
              <a:rPr sz="1500" b="0">
                <a:solidFill>
                  <a:srgbClr val="FFFFFF"/>
                </a:solidFill>
                <a:latin typeface="Calibri"/>
              </a:rPr>
              <a:t>the deterministic model decides which jobs matter (rankable, auditable); the language model handles the fuzzy, human bit — phrasing the right nudge. Each tool does what it's best at.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4465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Next Best Action  ·  portfolio piece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420624"/>
            <a:ext cx="82296" cy="5029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A900"/>
                </a:solidFill>
                <a:latin typeface="Calibri"/>
              </a:rPr>
              <a:t>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dirty="0">
                <a:solidFill>
                  <a:srgbClr val="FFFFFF"/>
                </a:solidFill>
                <a:latin typeface="Calibri"/>
              </a:rPr>
              <a:t>It took a cross-functional team — and a clear data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57200"/>
            <a:ext cx="6400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6E8AA8"/>
                </a:solidFill>
                <a:latin typeface="Calibri"/>
              </a:rPr>
              <a:t>1</a:t>
            </a:r>
            <a:r>
              <a:rPr lang="en-AU" sz="1300" b="1" dirty="0">
                <a:solidFill>
                  <a:srgbClr val="6E8AA8"/>
                </a:solidFill>
                <a:latin typeface="Calibri"/>
              </a:rPr>
              <a:t>2</a:t>
            </a:r>
            <a:endParaRPr sz="1300" b="1" dirty="0">
              <a:solidFill>
                <a:srgbClr val="6E8AA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1A1A2E"/>
                </a:solidFill>
                <a:latin typeface="Calibri"/>
              </a:rPr>
              <a:t>This was never a solo modelling exercise. Shipping it meant working across four disciplines, each owning a different risk.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2542032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148840"/>
            <a:ext cx="2542032" cy="914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2331720"/>
            <a:ext cx="213969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Calibri"/>
              </a:rPr>
              <a:t>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788920"/>
            <a:ext cx="213969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Framed the opportunity, defined success metrics, prioritised the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83864" y="2148840"/>
            <a:ext cx="2542032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83864" y="2148840"/>
            <a:ext cx="2542032" cy="9144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5032" y="2331720"/>
            <a:ext cx="213969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Calibri"/>
              </a:rPr>
              <a:t>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2788920"/>
            <a:ext cx="213969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Shaped the Smart Group UI so a nudge felt helpful, not naggy.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2148840"/>
            <a:ext cx="2542032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0488" y="2148840"/>
            <a:ext cx="2542032" cy="91440"/>
          </a:xfrm>
          <a:prstGeom prst="rect">
            <a:avLst/>
          </a:prstGeom>
          <a:solidFill>
            <a:srgbClr val="1C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91656" y="2331720"/>
            <a:ext cx="213969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Calibri"/>
              </a:rPr>
              <a:t>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788920"/>
            <a:ext cx="213969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Built the serving pipeline, the in-app surface and the refresh/caching.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7112" y="2148840"/>
            <a:ext cx="2542032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97112" y="2148840"/>
            <a:ext cx="2542032" cy="9144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98280" y="2331720"/>
            <a:ext cx="213969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0F2A43"/>
                </a:solidFill>
                <a:latin typeface="Calibri"/>
              </a:rPr>
              <a:t>Data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788920"/>
            <a:ext cx="2139696" cy="6347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en-AU" sz="1250" b="0" dirty="0">
                <a:solidFill>
                  <a:srgbClr val="6B7280"/>
                </a:solidFill>
                <a:latin typeface="Calibri"/>
              </a:rPr>
              <a:t>Designed the solution, </a:t>
            </a:r>
            <a:r>
              <a:rPr sz="1250" b="0" dirty="0">
                <a:solidFill>
                  <a:srgbClr val="6B7280"/>
                </a:solidFill>
                <a:latin typeface="Calibri"/>
              </a:rPr>
              <a:t>Owned the data, features, model and the experiment read-out.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465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Next Best Action  ·  portfolio piece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420624"/>
            <a:ext cx="82296" cy="5029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A900"/>
                </a:solidFill>
                <a:latin typeface="Calibri"/>
              </a:rPr>
              <a:t>VALIDATION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Success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572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E8AA8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A43"/>
                </a:solidFill>
                <a:latin typeface="Calibri"/>
              </a:rPr>
              <a:t>Design: a 50/50 A/B test — </a:t>
            </a:r>
            <a:r>
              <a:rPr sz="1500" b="0">
                <a:solidFill>
                  <a:srgbClr val="1A1A2E"/>
                </a:solidFill>
                <a:latin typeface="Calibri"/>
              </a:rPr>
              <a:t>half the tradies saw Smart Groups, half carried on as normal. We grouped what we tracked into three questions.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340156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011680"/>
            <a:ext cx="3401568" cy="9144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267712"/>
            <a:ext cx="29443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BB3A3"/>
                </a:solidFill>
                <a:latin typeface="Calibri"/>
              </a:rPr>
              <a:t>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33472"/>
            <a:ext cx="29443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F2A43"/>
                </a:solidFill>
                <a:latin typeface="Calibri"/>
              </a:rPr>
              <a:t>Are tradies doing more?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35808"/>
            <a:ext cx="294436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More tradies took action — and acted on more of their jobs.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794760"/>
            <a:ext cx="2944368" cy="38404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2B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794760"/>
            <a:ext cx="29443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F2A43"/>
                </a:solidFill>
                <a:latin typeface="Calibri"/>
              </a:rPr>
              <a:t>+8 pts activated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836" y="2011680"/>
            <a:ext cx="340156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02836" y="2011680"/>
            <a:ext cx="3401568" cy="914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31436" y="2267712"/>
            <a:ext cx="29443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2A900"/>
                </a:solidFill>
                <a:latin typeface="Calibri"/>
              </a:rPr>
              <a:t>ADOPTION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1436" y="2633472"/>
            <a:ext cx="29443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F2A43"/>
                </a:solidFill>
                <a:latin typeface="Calibri"/>
              </a:rPr>
              <a:t>Are they following the nudges?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1436" y="3035808"/>
            <a:ext cx="294436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They pushed jobs further along: book → complete → close.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31436" y="3794760"/>
            <a:ext cx="2944368" cy="38404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31436" y="3794760"/>
            <a:ext cx="29443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F2A43"/>
                </a:solidFill>
                <a:latin typeface="Calibri"/>
              </a:rPr>
              <a:t>Progression 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8432" y="2011680"/>
            <a:ext cx="340156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28432" y="2011680"/>
            <a:ext cx="3401568" cy="91440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57032" y="2267712"/>
            <a:ext cx="29443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F9E6A"/>
                </a:solidFill>
                <a:latin typeface="Calibri"/>
              </a:rPr>
              <a:t>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2" y="2633472"/>
            <a:ext cx="29443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F2A43"/>
                </a:solidFill>
                <a:latin typeface="Calibri"/>
              </a:rPr>
              <a:t>Does it convert to dollars?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3035808"/>
            <a:ext cx="294436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Engaged tradies renew and stay — lifting recurring revenue.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57032" y="3794760"/>
            <a:ext cx="2944368" cy="38404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57032" y="3794760"/>
            <a:ext cx="29443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F2A43"/>
                </a:solidFill>
                <a:latin typeface="Calibri"/>
              </a:rPr>
              <a:t>MRR ↑  (leading indicator)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526280"/>
            <a:ext cx="10607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dirty="0">
                <a:solidFill>
                  <a:srgbClr val="0F2A43"/>
                </a:solidFill>
                <a:latin typeface="Calibri"/>
              </a:rPr>
              <a:t>HOW </a:t>
            </a:r>
            <a:r>
              <a:rPr lang="en-AU" sz="1200" b="1" dirty="0">
                <a:solidFill>
                  <a:srgbClr val="0F2A43"/>
                </a:solidFill>
                <a:latin typeface="Calibri"/>
              </a:rPr>
              <a:t>THE</a:t>
            </a:r>
            <a:r>
              <a:rPr sz="1200" b="1" dirty="0">
                <a:solidFill>
                  <a:srgbClr val="0F2A43"/>
                </a:solidFill>
                <a:latin typeface="Calibri"/>
              </a:rPr>
              <a:t> SUCCESS</a:t>
            </a:r>
            <a:r>
              <a:rPr lang="en-AU" sz="1200" b="1" dirty="0">
                <a:solidFill>
                  <a:srgbClr val="0F2A43"/>
                </a:solidFill>
                <a:latin typeface="Calibri"/>
              </a:rPr>
              <a:t> WAS JUDGED</a:t>
            </a:r>
            <a:r>
              <a:rPr sz="1200" b="1" dirty="0">
                <a:solidFill>
                  <a:srgbClr val="0F2A43"/>
                </a:solidFill>
                <a:latin typeface="Calibri"/>
              </a:rPr>
              <a:t>  </a:t>
            </a:r>
            <a:endParaRPr sz="1200" b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77240" y="4892040"/>
            <a:ext cx="340156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77240" y="4892040"/>
            <a:ext cx="109728" cy="109728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33272" y="5074920"/>
            <a:ext cx="1325880" cy="310896"/>
          </a:xfrm>
          <a:prstGeom prst="round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3272" y="507492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PRIMARY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" y="5458968"/>
            <a:ext cx="2944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F2A43"/>
                </a:solidFill>
                <a:latin typeface="Calibri"/>
              </a:rPr>
              <a:t>% of tradies taking a key 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" y="5788152"/>
            <a:ext cx="29443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+8 pts vs control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02836" y="4892040"/>
            <a:ext cx="340156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402836" y="4892040"/>
            <a:ext cx="109728" cy="1097280"/>
          </a:xfrm>
          <a:prstGeom prst="rect">
            <a:avLst/>
          </a:prstGeom>
          <a:solidFill>
            <a:srgbClr val="1C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658868" y="5074920"/>
            <a:ext cx="1325880" cy="310896"/>
          </a:xfrm>
          <a:prstGeom prst="roundRect">
            <a:avLst/>
          </a:prstGeom>
          <a:solidFill>
            <a:srgbClr val="1C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58868" y="507492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SECONDARY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58868" y="5458968"/>
            <a:ext cx="2944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F2A43"/>
                </a:solidFill>
                <a:latin typeface="Calibri"/>
              </a:rPr>
              <a:t>Jobs progressing further through the lifecycle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58868" y="5788152"/>
            <a:ext cx="29443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book → complete → close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28432" y="4892040"/>
            <a:ext cx="340156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028432" y="4892040"/>
            <a:ext cx="109728" cy="109728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284464" y="5074920"/>
            <a:ext cx="1325880" cy="310896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84464" y="507492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GUARDRAIL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84464" y="5458968"/>
            <a:ext cx="2944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F2A43"/>
                </a:solidFill>
                <a:latin typeface="Calibri"/>
              </a:rPr>
              <a:t>Reached more tradies without overloading the same few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5788152"/>
            <a:ext cx="29443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actions-per-tradie stayed healthy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4465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Next Best Action  ·  portfolio piece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Relative lifts, directional — not significance-tested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420624"/>
            <a:ext cx="82296" cy="5029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A900"/>
                </a:solidFill>
                <a:latin typeface="Calibri"/>
              </a:rPr>
              <a:t>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What I'm proud of — and what I'd do differently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572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E8AA8"/>
                </a:solidFill>
                <a:latin typeface="Calibr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554480"/>
            <a:ext cx="521208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5212080" cy="91440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78308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Why I'm proud of this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2395728"/>
            <a:ext cx="384048" cy="384048"/>
          </a:xfrm>
          <a:prstGeom prst="ellipse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3957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377440"/>
            <a:ext cx="4133088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A43"/>
                </a:solidFill>
                <a:latin typeface="Calibri"/>
              </a:rPr>
              <a:t>It hits the frontline, not the back office.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Most ML quietly optimises an internal process. This one is customer-facing — every tradie on web and app sees and uses what we built. Real product, real people, visible craft.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3584448"/>
            <a:ext cx="384048" cy="384048"/>
          </a:xfrm>
          <a:prstGeom prst="ellipse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5844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566160"/>
            <a:ext cx="4133088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dirty="0">
                <a:solidFill>
                  <a:srgbClr val="0F2A43"/>
                </a:solidFill>
                <a:latin typeface="Calibri"/>
              </a:rPr>
              <a:t>Outsized commercial impact.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dirty="0">
                <a:solidFill>
                  <a:srgbClr val="6B7280"/>
                </a:solidFill>
                <a:latin typeface="Calibri"/>
              </a:rPr>
              <a:t>Because engagement feeds retention, even a lean model drove recurring-revenue impact at scale, across the whole </a:t>
            </a:r>
            <a:r>
              <a:rPr sz="1200" b="0" dirty="0" err="1">
                <a:solidFill>
                  <a:srgbClr val="6B7280"/>
                </a:solidFill>
                <a:latin typeface="Calibri"/>
              </a:rPr>
              <a:t>tradie</a:t>
            </a:r>
            <a:r>
              <a:rPr sz="1200" b="0" dirty="0">
                <a:solidFill>
                  <a:srgbClr val="6B7280"/>
                </a:solidFill>
                <a:latin typeface="Calibri"/>
              </a:rPr>
              <a:t> base.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" y="4773168"/>
            <a:ext cx="384048" cy="384048"/>
          </a:xfrm>
          <a:prstGeom prst="ellipse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7731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4754880"/>
            <a:ext cx="4133088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dirty="0">
                <a:solidFill>
                  <a:srgbClr val="0F2A43"/>
                </a:solidFill>
                <a:latin typeface="Calibri"/>
              </a:rPr>
              <a:t>It became the blueprint.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dirty="0">
                <a:solidFill>
                  <a:srgbClr val="6B7280"/>
                </a:solidFill>
                <a:latin typeface="Calibri"/>
              </a:rPr>
              <a:t>Its simple, interpretable design — and how the cross-functional team worked — made it the reference prototype for future ML / </a:t>
            </a:r>
            <a:r>
              <a:rPr sz="1200" b="0" dirty="0" err="1">
                <a:solidFill>
                  <a:srgbClr val="6B7280"/>
                </a:solidFill>
                <a:latin typeface="Calibri"/>
              </a:rPr>
              <a:t>personalisation</a:t>
            </a:r>
            <a:r>
              <a:rPr sz="1200" b="0" dirty="0">
                <a:solidFill>
                  <a:srgbClr val="6B7280"/>
                </a:solidFill>
                <a:latin typeface="Calibri"/>
              </a:rPr>
              <a:t> use cases.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554480"/>
            <a:ext cx="521208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1554480"/>
            <a:ext cx="5212080" cy="914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178308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What I'd do differently next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395728"/>
            <a:ext cx="566928" cy="384048"/>
          </a:xfrm>
          <a:prstGeom prst="round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395728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377440"/>
            <a:ext cx="39776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dirty="0">
                <a:solidFill>
                  <a:srgbClr val="0F2A43"/>
                </a:solidFill>
                <a:latin typeface="Calibri"/>
              </a:rPr>
              <a:t>Close the learning loop.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dirty="0">
                <a:solidFill>
                  <a:srgbClr val="6B7280"/>
                </a:solidFill>
                <a:latin typeface="Calibri"/>
              </a:rPr>
              <a:t>Capture which recommendations actually convert and feed that back as labels, so the model learns continuously rather than being retrained occasionally.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3584448"/>
            <a:ext cx="384048" cy="38404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35844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3566160"/>
            <a:ext cx="4133088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A43"/>
                </a:solidFill>
                <a:latin typeface="Calibri"/>
              </a:rPr>
              <a:t>Pre-register &amp; power the experiment.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Lock the primary metric and a significance test before launch, so the read-out is unambiguous.</a:t>
            </a:r>
          </a:p>
        </p:txBody>
      </p:sp>
      <p:sp>
        <p:nvSpPr>
          <p:cNvPr id="29" name="Oval 28"/>
          <p:cNvSpPr/>
          <p:nvPr/>
        </p:nvSpPr>
        <p:spPr>
          <a:xfrm>
            <a:off x="6492240" y="4773168"/>
            <a:ext cx="384048" cy="38404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47731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4754880"/>
            <a:ext cx="4133088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A43"/>
                </a:solidFill>
                <a:latin typeface="Calibri"/>
              </a:rPr>
              <a:t>Define “success” with product up front.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Agree what done means — e.g. in- vs out-of-platform completion — so measurement matches reality.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4465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Next Best Action  ·  portfolio piece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2606040"/>
            <a:ext cx="128016" cy="14630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4688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3375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dirty="0">
                <a:solidFill>
                  <a:srgbClr val="9FB3C9"/>
                </a:solidFill>
                <a:latin typeface="Calibri"/>
              </a:rPr>
              <a:t>Happy to go deeper on the data, the model, or the experiment.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2163</Words>
  <Application>Microsoft Macintosh PowerPoint</Application>
  <PresentationFormat>Widescreen</PresentationFormat>
  <Paragraphs>291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Nadeesha Ekanayake</cp:lastModifiedBy>
  <cp:revision>12</cp:revision>
  <dcterms:created xsi:type="dcterms:W3CDTF">2013-01-27T09:14:16Z</dcterms:created>
  <dcterms:modified xsi:type="dcterms:W3CDTF">2026-06-08T02:11:24Z</dcterms:modified>
  <cp:category/>
</cp:coreProperties>
</file>